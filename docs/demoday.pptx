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70" r:id="rId5"/>
    <p:sldId id="261" r:id="rId6"/>
    <p:sldId id="741" r:id="rId7"/>
    <p:sldId id="740" r:id="rId8"/>
    <p:sldId id="727" r:id="rId9"/>
    <p:sldId id="742" r:id="rId10"/>
    <p:sldId id="743" r:id="rId1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8"/>
    <a:srgbClr val="FFFF96"/>
    <a:srgbClr val="F7F7F7"/>
    <a:srgbClr val="E6E6E6"/>
    <a:srgbClr val="1C1E26"/>
    <a:srgbClr val="303342"/>
    <a:srgbClr val="485F74"/>
    <a:srgbClr val="354655"/>
    <a:srgbClr val="C80000"/>
    <a:srgbClr val="85B3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B5B347-1406-ED89-8302-F97E8B040B62}" v="2" dt="2026-02-27T12:34:16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61421010-3731-422F-8CF1-CD47B2D7C9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2656080-143A-4905-932A-5C7754887A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17BF99-8E6B-404F-B4ED-AD6B20421C5C}" type="datetime1">
              <a:rPr lang="pt-BR" smtClean="0"/>
              <a:t>25/09/2026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6359276-DB8D-43B4-8029-4A695209B9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E29EE0F-113C-45AB-9877-4A16FFA6A9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EDB89D3-056A-4F4C-8125-EA712628954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8278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A2743-83CA-40D8-9EFB-A763A27C93CF}" type="datetime1">
              <a:rPr lang="pt-BR" smtClean="0"/>
              <a:pPr/>
              <a:t>25/09/2026</a:t>
            </a:fld>
            <a:endParaRPr lang="pt-BR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F220CB7-DCA5-4E5B-97F1-300CDD8D2AAB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2671832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220CB7-DCA5-4E5B-97F1-300CDD8D2AA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457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220CB7-DCA5-4E5B-97F1-300CDD8D2AA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6636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220CB7-DCA5-4E5B-97F1-300CDD8D2AA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6370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220CB7-DCA5-4E5B-97F1-300CDD8D2AA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794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220CB7-DCA5-4E5B-97F1-300CDD8D2AA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6353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Personalizad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 noProof="0"/>
              <a:t>Arrastar e soltar a imagem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B8A1A3-5BFE-4E68-81F1-F52462776C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11146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A1EF1-BFC9-4361-B215-2D83B16ABB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716709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 userDrawn="1"/>
        </p:nvSpPr>
        <p:spPr>
          <a:xfrm>
            <a:off x="0" y="0"/>
            <a:ext cx="12192000" cy="64878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51FFE5-84D8-43BD-9B0D-76C497F555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5892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e 40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1428299"/>
            <a:ext cx="1711234" cy="4436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FB4FFF-4547-4B6C-9BF5-9A495C211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183253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/>
          <p:cNvGrpSpPr/>
          <p:nvPr userDrawn="1"/>
        </p:nvGrpSpPr>
        <p:grpSpPr>
          <a:xfrm rot="10800000">
            <a:off x="11858328" y="148422"/>
            <a:ext cx="332874" cy="590718"/>
            <a:chOff x="10026" y="148425"/>
            <a:chExt cx="332874" cy="590718"/>
          </a:xfrm>
        </p:grpSpPr>
        <p:sp>
          <p:nvSpPr>
            <p:cNvPr id="16" name="Retângulo 15"/>
            <p:cNvSpPr/>
            <p:nvPr/>
          </p:nvSpPr>
          <p:spPr>
            <a:xfrm>
              <a:off x="10026" y="148428"/>
              <a:ext cx="203334" cy="5907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</p:grpSp>
      <p:sp>
        <p:nvSpPr>
          <p:cNvPr id="2" name="Retângulo 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E6E6E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Caixa de texto 11"/>
          <p:cNvSpPr txBox="1"/>
          <p:nvPr userDrawn="1"/>
        </p:nvSpPr>
        <p:spPr>
          <a:xfrm>
            <a:off x="11292841" y="6528300"/>
            <a:ext cx="79941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 rtl="0"/>
            <a:fld id="{260E2A6B-A809-4840-BF14-8648BC0BDF87}" type="slidenum">
              <a:rPr lang="pt-BR" sz="1200" b="0" i="0" strike="noStrike" spc="0" noProof="0" smtClean="0">
                <a:solidFill>
                  <a:schemeClr val="accent1"/>
                </a:solidFill>
                <a:latin typeface="+mn-lt"/>
                <a:ea typeface="Roboto Condensed Light" panose="02000000000000000000" pitchFamily="2" charset="0"/>
                <a:cs typeface="Segoe UI Light" panose="020B0502040204020203" pitchFamily="34" charset="0"/>
              </a:rPr>
              <a:pPr algn="r" rtl="0"/>
              <a:t>‹#›</a:t>
            </a:fld>
            <a:endParaRPr lang="pt-BR" sz="8000" b="0" i="0" strike="noStrike" spc="0" noProof="0">
              <a:solidFill>
                <a:schemeClr val="accent1"/>
              </a:solidFill>
              <a:latin typeface="+mn-lt"/>
              <a:ea typeface="Roboto Condensed Light" panose="02000000000000000000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11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2" r:id="rId2"/>
    <p:sldLayoutId id="2147483781" r:id="rId3"/>
    <p:sldLayoutId id="214748369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484C2E1B-64C4-E56C-7F45-335D6167A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81000"/>
                    </a14:imgEffect>
                    <a14:imgEffect>
                      <a14:brightnessContrast bright="-63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13348" y="-14377"/>
            <a:ext cx="12630508" cy="6886754"/>
          </a:xfrm>
          <a:prstGeom prst="rect">
            <a:avLst/>
          </a:prstGeom>
        </p:spPr>
      </p:pic>
      <p:sp>
        <p:nvSpPr>
          <p:cNvPr id="11" name="Título 10" hidden="1">
            <a:extLst>
              <a:ext uri="{FF2B5EF4-FFF2-40B4-BE49-F238E27FC236}">
                <a16:creationId xmlns:a16="http://schemas.microsoft.com/office/drawing/2014/main" id="{B825F879-7327-49C3-8A45-B7A226CC3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Slide 1</a:t>
            </a:r>
          </a:p>
        </p:txBody>
      </p:sp>
      <p:sp>
        <p:nvSpPr>
          <p:cNvPr id="22" name="Caixa de texto 21"/>
          <p:cNvSpPr txBox="1"/>
          <p:nvPr/>
        </p:nvSpPr>
        <p:spPr>
          <a:xfrm>
            <a:off x="4268862" y="4428863"/>
            <a:ext cx="323197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3200" b="1">
                <a:solidFill>
                  <a:srgbClr val="FFFFB8"/>
                </a:solidFill>
                <a:latin typeface="Century Schoolbook"/>
                <a:ea typeface="Lato Black"/>
                <a:cs typeface="Lato Black"/>
              </a:rPr>
              <a:t>Lanches Maga</a:t>
            </a:r>
            <a:endParaRPr lang="pt-BR" sz="3200" b="1">
              <a:solidFill>
                <a:srgbClr val="FFFFB8"/>
              </a:solidFill>
              <a:latin typeface="Century Schoolbook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3" name="Caixa de texto 22"/>
          <p:cNvSpPr txBox="1"/>
          <p:nvPr/>
        </p:nvSpPr>
        <p:spPr>
          <a:xfrm>
            <a:off x="4760177" y="5017782"/>
            <a:ext cx="2249334" cy="172354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pt-BR">
                <a:solidFill>
                  <a:srgbClr val="FFFFB8"/>
                </a:solidFill>
                <a:latin typeface="Century Schoolbook"/>
                <a:ea typeface="Lato"/>
                <a:cs typeface="Arial"/>
              </a:rPr>
              <a:t>Clara Gabrielle</a:t>
            </a:r>
          </a:p>
          <a:p>
            <a:pPr algn="ctr"/>
            <a:r>
              <a:rPr lang="pt-BR">
                <a:solidFill>
                  <a:srgbClr val="FFFFB8"/>
                </a:solidFill>
                <a:latin typeface="Century Schoolbook"/>
                <a:ea typeface="Lato"/>
                <a:cs typeface="Arial"/>
              </a:rPr>
              <a:t>Gabriel Moura</a:t>
            </a:r>
          </a:p>
          <a:p>
            <a:pPr algn="ctr"/>
            <a:r>
              <a:rPr lang="pt-BR">
                <a:solidFill>
                  <a:srgbClr val="FFFFB8"/>
                </a:solidFill>
                <a:latin typeface="Century Schoolbook"/>
                <a:ea typeface="Lato"/>
                <a:cs typeface="Arial"/>
              </a:rPr>
              <a:t>Guilherme Campos</a:t>
            </a:r>
          </a:p>
          <a:p>
            <a:pPr algn="ctr"/>
            <a:r>
              <a:rPr lang="pt-BR">
                <a:solidFill>
                  <a:srgbClr val="FFFFB8"/>
                </a:solidFill>
                <a:latin typeface="Century Schoolbook"/>
                <a:ea typeface="Lato"/>
                <a:cs typeface="Arial"/>
              </a:rPr>
              <a:t>Heloísa </a:t>
            </a:r>
            <a:r>
              <a:rPr lang="pt-BR" err="1">
                <a:solidFill>
                  <a:srgbClr val="FFFFB8"/>
                </a:solidFill>
                <a:latin typeface="Century Schoolbook"/>
                <a:ea typeface="Lato"/>
                <a:cs typeface="Arial"/>
              </a:rPr>
              <a:t>Rozzette</a:t>
            </a:r>
            <a:endParaRPr lang="pt-BR">
              <a:solidFill>
                <a:srgbClr val="FFFFB8"/>
              </a:solidFill>
              <a:latin typeface="Century Schoolbook"/>
              <a:ea typeface="Lato"/>
              <a:cs typeface="Arial"/>
            </a:endParaRPr>
          </a:p>
          <a:p>
            <a:pPr algn="ctr"/>
            <a:r>
              <a:rPr lang="pt-BR">
                <a:solidFill>
                  <a:srgbClr val="FFFFB8"/>
                </a:solidFill>
                <a:latin typeface="Century Schoolbook"/>
                <a:ea typeface="Lato"/>
                <a:cs typeface="Arial"/>
              </a:rPr>
              <a:t>Sofia Martins</a:t>
            </a:r>
          </a:p>
          <a:p>
            <a:pPr algn="ctr"/>
            <a:endParaRPr lang="pt-BR" sz="1600" spc="600">
              <a:solidFill>
                <a:srgbClr val="FFFFB8"/>
              </a:solidFill>
              <a:latin typeface="Century Schoolbook"/>
              <a:ea typeface="Lato"/>
              <a:cs typeface="Arial"/>
            </a:endParaRP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F350CE4B-6768-08CB-9BDF-8000C622B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719" y="130422"/>
            <a:ext cx="4744528" cy="47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23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Sanduíche e batatas fritas&#10;&#10;O conteúdo gerado por IA pode estar incorreto.">
            <a:extLst>
              <a:ext uri="{FF2B5EF4-FFF2-40B4-BE49-F238E27FC236}">
                <a16:creationId xmlns:a16="http://schemas.microsoft.com/office/drawing/2014/main" id="{77B522B3-8883-AD65-820F-DCC9295A0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19000"/>
                    </a14:imgEffect>
                    <a14:imgEffect>
                      <a14:brightnessContrast bright="-56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1" y="-130327"/>
            <a:ext cx="12186138" cy="6985001"/>
          </a:xfrm>
          <a:prstGeom prst="rect">
            <a:avLst/>
          </a:prstGeom>
        </p:spPr>
      </p:pic>
      <p:sp>
        <p:nvSpPr>
          <p:cNvPr id="18" name="Caixa de texto 17"/>
          <p:cNvSpPr txBox="1"/>
          <p:nvPr/>
        </p:nvSpPr>
        <p:spPr>
          <a:xfrm>
            <a:off x="537896" y="1801046"/>
            <a:ext cx="5559644" cy="495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pt-BR" sz="3200">
                <a:solidFill>
                  <a:schemeClr val="accent6">
                    <a:lumMod val="60000"/>
                    <a:lumOff val="40000"/>
                  </a:schemeClr>
                </a:solidFill>
                <a:latin typeface="Arial Black"/>
                <a:ea typeface="Lato Black"/>
                <a:cs typeface="Lato Black"/>
              </a:rPr>
              <a:t>TEMA DO PROJETO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537896" y="2499742"/>
            <a:ext cx="3961291" cy="3441198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b="1">
                <a:solidFill>
                  <a:schemeClr val="accent6">
                    <a:lumMod val="60000"/>
                    <a:lumOff val="40000"/>
                  </a:schemeClr>
                </a:solidFill>
                <a:latin typeface="Arial"/>
                <a:ea typeface="+mn-lt"/>
                <a:cs typeface="+mn-lt"/>
              </a:rPr>
              <a:t>Lanches Maga</a:t>
            </a:r>
            <a:r>
              <a:rPr lang="pt-BR">
                <a:solidFill>
                  <a:schemeClr val="bg1"/>
                </a:solidFill>
                <a:latin typeface="Arial"/>
                <a:ea typeface="+mn-lt"/>
                <a:cs typeface="+mn-lt"/>
              </a:rPr>
              <a:t> será utilizado em aparelhos celulares, notebooks e tablets, sendo acessado por pessoas que buscam lanches artesanais de qualidade, com agilidade e praticidade no pedido. A proposta é atender consumidores que valorizam sabor e rapidez, oferecendo uma experiência simples e eficiente, ideal para quem deseja comer bem mesmo na correria do dia a dia.</a:t>
            </a:r>
            <a:endParaRPr lang="pt-BR">
              <a:solidFill>
                <a:schemeClr val="bg1"/>
              </a:solidFill>
              <a:latin typeface="Arial"/>
              <a:cs typeface="Arial"/>
            </a:endParaRPr>
          </a:p>
          <a:p>
            <a:pPr algn="just">
              <a:lnSpc>
                <a:spcPct val="120000"/>
              </a:lnSpc>
            </a:pPr>
            <a:endParaRPr lang="pt-BR">
              <a:solidFill>
                <a:schemeClr val="bg1"/>
              </a:solidFill>
              <a:latin typeface="Arial"/>
              <a:ea typeface="Lato"/>
              <a:cs typeface="Arial"/>
            </a:endParaRPr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B99C03C8-BF33-4C27-9832-97127EEB1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Slide 2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1A4EE6B-B91B-9543-AF68-1DB26A744860}"/>
              </a:ext>
            </a:extLst>
          </p:cNvPr>
          <p:cNvSpPr txBox="1"/>
          <p:nvPr/>
        </p:nvSpPr>
        <p:spPr>
          <a:xfrm>
            <a:off x="11009923" y="6475371"/>
            <a:ext cx="1183705" cy="381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Guilherme</a:t>
            </a:r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05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Sanduíche com recheios diversos em cima de mesa&#10;&#10;O conteúdo gerado por IA pode estar incorreto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2000" contrast="-1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872" y="-1840"/>
            <a:ext cx="12174313" cy="6854436"/>
          </a:xfrm>
          <a:prstGeom prst="rect">
            <a:avLst/>
          </a:prstGeom>
        </p:spPr>
      </p:pic>
      <p:sp>
        <p:nvSpPr>
          <p:cNvPr id="29" name="Caixa de texto 28"/>
          <p:cNvSpPr txBox="1"/>
          <p:nvPr/>
        </p:nvSpPr>
        <p:spPr>
          <a:xfrm>
            <a:off x="482536" y="1038201"/>
            <a:ext cx="6879751" cy="49590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pt-BR" sz="3200">
                <a:solidFill>
                  <a:schemeClr val="accent1">
                    <a:lumMod val="60000"/>
                    <a:lumOff val="40000"/>
                  </a:schemeClr>
                </a:solidFill>
                <a:latin typeface="Arial Black"/>
                <a:ea typeface="Lato Black"/>
                <a:cs typeface="Lato Black"/>
              </a:rPr>
              <a:t>AS 3 CLASSES DO DOMÍNIO</a:t>
            </a:r>
            <a:endParaRPr lang="pt-BR" sz="320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351108" y="1487068"/>
            <a:ext cx="5149012" cy="4992392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>
                <a:solidFill>
                  <a:schemeClr val="bg1"/>
                </a:solidFill>
                <a:ea typeface="+mn-lt"/>
                <a:cs typeface="+mn-lt"/>
              </a:rPr>
              <a:t>  </a:t>
            </a:r>
            <a:r>
              <a:rPr lang="pt-BR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n-lt"/>
                <a:cs typeface="+mn-lt"/>
              </a:rPr>
              <a:t>Primeira classe (cliente)</a:t>
            </a:r>
            <a:r>
              <a:rPr lang="pt-BR">
                <a:solidFill>
                  <a:schemeClr val="bg1"/>
                </a:solidFill>
                <a:latin typeface="Arial"/>
                <a:ea typeface="+mn-lt"/>
                <a:cs typeface="+mn-lt"/>
              </a:rPr>
              <a:t>: será responsável por colocar seus dados (nome, endereço, telefone, CPF opcional)</a:t>
            </a:r>
            <a:endParaRPr lang="pt-BR">
              <a:solidFill>
                <a:schemeClr val="bg1"/>
              </a:solidFill>
              <a:latin typeface="Arial"/>
              <a:cs typeface="Arial"/>
            </a:endParaRPr>
          </a:p>
          <a:p>
            <a:r>
              <a:rPr lang="pt-BR">
                <a:solidFill>
                  <a:schemeClr val="bg1"/>
                </a:solidFill>
                <a:latin typeface="Arial"/>
                <a:ea typeface="+mn-lt"/>
                <a:cs typeface="+mn-lt"/>
              </a:rPr>
              <a:t> </a:t>
            </a:r>
            <a:r>
              <a:rPr lang="pt-BR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n-lt"/>
                <a:cs typeface="+mn-lt"/>
              </a:rPr>
              <a:t> Segunda classe (pedido)</a:t>
            </a:r>
            <a:r>
              <a:rPr lang="pt-BR">
                <a:solidFill>
                  <a:schemeClr val="bg1"/>
                </a:solidFill>
                <a:latin typeface="Arial"/>
                <a:ea typeface="+mn-lt"/>
                <a:cs typeface="+mn-lt"/>
              </a:rPr>
              <a:t>: será responsável por manter as informações dos lanches (qual tipo de hambúrguer, acréscimos, decréscimo opcional, tipo de pão, preço, bebidas)</a:t>
            </a:r>
            <a:endParaRPr lang="pt-BR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pt-BR">
                <a:solidFill>
                  <a:schemeClr val="bg1"/>
                </a:solidFill>
                <a:latin typeface="Arial"/>
                <a:ea typeface="Calibri"/>
                <a:cs typeface="Calibri"/>
              </a:rPr>
              <a:t> </a:t>
            </a:r>
            <a:r>
              <a:rPr lang="pt-BR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Calibri"/>
                <a:cs typeface="Calibri"/>
              </a:rPr>
              <a:t> Terceira classe (pagamento)</a:t>
            </a:r>
            <a:r>
              <a:rPr lang="pt-BR">
                <a:solidFill>
                  <a:schemeClr val="bg1"/>
                </a:solidFill>
                <a:latin typeface="Arial"/>
                <a:ea typeface="Calibri"/>
                <a:cs typeface="Calibri"/>
              </a:rPr>
              <a:t>: será responsável pela finalização do pedido, podendo ser efetuado através de cartão de crédito e débito, pix e dinheiro, qual a previsão de entrega e em qual momento ele será feito, além de ter a opção de retirada no local ou entrega. Ela se relaciona com a primeira classe quando pega o endereço do cliente, e na segunda irá buscar o preço final do pedido.</a:t>
            </a:r>
            <a:endParaRPr lang="pt-BR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2" name="Retângulo 31"/>
          <p:cNvSpPr/>
          <p:nvPr/>
        </p:nvSpPr>
        <p:spPr>
          <a:xfrm>
            <a:off x="1838427" y="3615403"/>
            <a:ext cx="3251201" cy="390813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rtl="0">
              <a:lnSpc>
                <a:spcPct val="120000"/>
              </a:lnSpc>
            </a:pPr>
            <a:endParaRPr lang="pt-BR" b="1">
              <a:solidFill>
                <a:schemeClr val="bg1"/>
              </a:solidFill>
              <a:latin typeface="Arial"/>
              <a:ea typeface="Lato"/>
              <a:cs typeface="Arial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1838427" y="4430163"/>
            <a:ext cx="3251201" cy="390813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rtl="0">
              <a:lnSpc>
                <a:spcPct val="120000"/>
              </a:lnSpc>
            </a:pPr>
            <a:endParaRPr lang="pt-BR" b="1">
              <a:solidFill>
                <a:schemeClr val="bg1"/>
              </a:solidFill>
              <a:latin typeface="Arial" panose="020B0604020202020204" pitchFamily="34" charset="0"/>
              <a:ea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C41CB517-0AF2-4424-9DD9-9F81B4C1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Slide 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8CD751-4D28-3443-B1E8-BA0E815D8C78}"/>
              </a:ext>
            </a:extLst>
          </p:cNvPr>
          <p:cNvSpPr txBox="1"/>
          <p:nvPr/>
        </p:nvSpPr>
        <p:spPr>
          <a:xfrm>
            <a:off x="11346147" y="6481884"/>
            <a:ext cx="11535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Gabriel</a:t>
            </a:r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61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0" grpId="0"/>
      <p:bldP spid="32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Tigela com comida e frutas&#10;&#10;O conteúdo gerado por IA pode estar incorreto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" y="29308"/>
            <a:ext cx="12191998" cy="6858000"/>
          </a:xfrm>
          <a:prstGeom prst="rect">
            <a:avLst/>
          </a:prstGeom>
        </p:spPr>
      </p:pic>
      <p:sp>
        <p:nvSpPr>
          <p:cNvPr id="29" name="Caixa de texto 28"/>
          <p:cNvSpPr txBox="1"/>
          <p:nvPr/>
        </p:nvSpPr>
        <p:spPr>
          <a:xfrm>
            <a:off x="502074" y="1264552"/>
            <a:ext cx="6879751" cy="495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pt-BR" sz="3200">
                <a:solidFill>
                  <a:schemeClr val="accent1">
                    <a:lumMod val="60000"/>
                    <a:lumOff val="40000"/>
                  </a:schemeClr>
                </a:solidFill>
                <a:latin typeface="Arial Black"/>
                <a:ea typeface="Lato Black"/>
                <a:cs typeface="Lato Black"/>
              </a:rPr>
              <a:t>BRENCHMARKING</a:t>
            </a:r>
            <a:endParaRPr lang="pt-BR" sz="320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500042" y="1884288"/>
            <a:ext cx="5517662" cy="5380191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>
                <a:solidFill>
                  <a:schemeClr val="bg1"/>
                </a:solidFill>
                <a:latin typeface="Arial"/>
                <a:ea typeface="+mn-lt"/>
                <a:cs typeface="Arial"/>
              </a:rPr>
              <a:t>Três aplicações: Pedrinho Lanches, </a:t>
            </a:r>
            <a:r>
              <a:rPr lang="pt-BR" err="1">
                <a:solidFill>
                  <a:schemeClr val="bg1"/>
                </a:solidFill>
                <a:latin typeface="Arial"/>
                <a:ea typeface="+mn-lt"/>
                <a:cs typeface="Arial"/>
              </a:rPr>
              <a:t>Bella</a:t>
            </a:r>
            <a:r>
              <a:rPr lang="pt-BR">
                <a:solidFill>
                  <a:schemeClr val="bg1"/>
                </a:solidFill>
                <a:latin typeface="Arial"/>
                <a:ea typeface="+mn-lt"/>
                <a:cs typeface="Arial"/>
              </a:rPr>
              <a:t> Farina e Bom Gosto.</a:t>
            </a:r>
            <a:endParaRPr lang="pt-BR">
              <a:solidFill>
                <a:schemeClr val="bg1"/>
              </a:solidFill>
            </a:endParaRPr>
          </a:p>
          <a:p>
            <a:r>
              <a:rPr lang="pt-BR">
                <a:solidFill>
                  <a:schemeClr val="bg1"/>
                </a:solidFill>
                <a:latin typeface="Arial"/>
                <a:ea typeface="+mn-lt"/>
                <a:cs typeface="Arial"/>
              </a:rPr>
              <a:t>Este benchmarking tem como objetivo analisar essas aplicações a fim de identificar boas práticas, funcionalidades eficientes e possíveis melhorias relacionadas à usabilidade, design, organização das informações, cardápio digital, formas de pagamento e processo de finalização do pedido.</a:t>
            </a:r>
            <a:endParaRPr lang="pt-BR"/>
          </a:p>
          <a:p>
            <a:r>
              <a:rPr lang="pt-BR">
                <a:solidFill>
                  <a:schemeClr val="bg1"/>
                </a:solidFill>
                <a:latin typeface="Arial"/>
                <a:ea typeface="+mn-lt"/>
                <a:cs typeface="Arial"/>
              </a:rPr>
              <a:t>A análise comparativa permitirá compreender como cada aplicação se comunica com o usuário, quais soluções tornam o acesso mais rápido e intuitivo e de que forma a experiência do cliente pode ser otimizada. Com base nesses dados, será possível utilizar as melhores referências para a construção do site, buscando oferecer uma plataforma simples, funcional e atrativa, que facilite o pedido de lanches e atenda às necessidades do público-alvo.</a:t>
            </a:r>
            <a:endParaRPr lang="pt-BR"/>
          </a:p>
          <a:p>
            <a:endParaRPr lang="pt-BR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endParaRPr lang="pt-BR" b="1">
              <a:solidFill>
                <a:schemeClr val="bg1"/>
              </a:solidFill>
              <a:latin typeface="Arial" panose="020B0604020202020204" pitchFamily="34" charset="0"/>
              <a:ea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32" name="Retângulo 31"/>
          <p:cNvSpPr/>
          <p:nvPr/>
        </p:nvSpPr>
        <p:spPr>
          <a:xfrm>
            <a:off x="1838427" y="3463003"/>
            <a:ext cx="3251201" cy="390813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rtl="0">
              <a:lnSpc>
                <a:spcPct val="120000"/>
              </a:lnSpc>
            </a:pPr>
            <a:endParaRPr lang="pt-BR" b="1">
              <a:solidFill>
                <a:schemeClr val="bg1"/>
              </a:solidFill>
              <a:latin typeface="Arial" panose="020B0604020202020204" pitchFamily="34" charset="0"/>
              <a:ea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1814981" y="4254317"/>
            <a:ext cx="3251201" cy="390813"/>
          </a:xfrm>
          <a:prstGeom prst="rect">
            <a:avLst/>
          </a:prstGeom>
        </p:spPr>
        <p:txBody>
          <a:bodyPr wrap="square" lIns="91440" tIns="45720" rIns="91440" bIns="45720" rtlCol="0" anchor="t">
            <a:spAutoFit/>
          </a:bodyPr>
          <a:lstStyle/>
          <a:p>
            <a:pPr rtl="0">
              <a:lnSpc>
                <a:spcPct val="120000"/>
              </a:lnSpc>
            </a:pPr>
            <a:endParaRPr lang="pt-BR" b="1">
              <a:solidFill>
                <a:schemeClr val="bg1"/>
              </a:solidFill>
              <a:latin typeface="Arial"/>
              <a:ea typeface="Lato"/>
              <a:cs typeface="Arial"/>
            </a:endParaRPr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9F3820DA-290B-43AA-AA9C-82643FA3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Slide 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49921A3-78A6-DDEA-D1CC-CDA79BBC363F}"/>
              </a:ext>
            </a:extLst>
          </p:cNvPr>
          <p:cNvSpPr txBox="1"/>
          <p:nvPr/>
        </p:nvSpPr>
        <p:spPr>
          <a:xfrm>
            <a:off x="11498384" y="6535615"/>
            <a:ext cx="84992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Sofia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74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0" grpId="0"/>
      <p:bldP spid="32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Bandeja com potes de comida&#10;&#10;O conteúdo gerado por IA pode estar incorreto.">
            <a:extLst>
              <a:ext uri="{FF2B5EF4-FFF2-40B4-BE49-F238E27FC236}">
                <a16:creationId xmlns:a16="http://schemas.microsoft.com/office/drawing/2014/main" id="{6124FFBC-2AD2-93D7-9E85-6F49E83E2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513" y="244"/>
            <a:ext cx="12201027" cy="6857507"/>
          </a:xfrm>
          <a:prstGeom prst="rect">
            <a:avLst/>
          </a:prstGeom>
        </p:spPr>
      </p:pic>
      <p:sp>
        <p:nvSpPr>
          <p:cNvPr id="1134" name="Caixa de texto 1133"/>
          <p:cNvSpPr txBox="1"/>
          <p:nvPr/>
        </p:nvSpPr>
        <p:spPr>
          <a:xfrm>
            <a:off x="674077" y="1142005"/>
            <a:ext cx="6099463" cy="495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pt-BR" sz="3200">
                <a:solidFill>
                  <a:schemeClr val="accent1">
                    <a:lumMod val="60000"/>
                    <a:lumOff val="40000"/>
                  </a:schemeClr>
                </a:solidFill>
                <a:latin typeface="Arial Black"/>
                <a:ea typeface="Lato Black"/>
                <a:cs typeface="Lato Black"/>
              </a:rPr>
              <a:t>PEDRINHO LANCHES</a:t>
            </a:r>
            <a:endParaRPr lang="pt-BR" sz="320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" name="Título 6" hidden="1">
            <a:extLst>
              <a:ext uri="{FF2B5EF4-FFF2-40B4-BE49-F238E27FC236}">
                <a16:creationId xmlns:a16="http://schemas.microsoft.com/office/drawing/2014/main" id="{D602B064-C2D4-46FC-86C8-40ABA1F36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Slide 7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2F6785C-3DAD-73C6-9EF3-91C256D933D4}"/>
              </a:ext>
            </a:extLst>
          </p:cNvPr>
          <p:cNvSpPr txBox="1"/>
          <p:nvPr/>
        </p:nvSpPr>
        <p:spPr>
          <a:xfrm>
            <a:off x="576385" y="1709616"/>
            <a:ext cx="326292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>
                <a:solidFill>
                  <a:schemeClr val="bg1"/>
                </a:solidFill>
                <a:latin typeface="Arial"/>
                <a:ea typeface="Calibri"/>
                <a:cs typeface="Calibri"/>
              </a:rPr>
              <a:t>Gostamos do site do Pedrinho Lanches devido a maneira de organização, por exemplo, o horário de funcionamento do estabelecimento assim que entramos no site, a estética visual bem acolhedora e colorida com base nas cores do local, os lanches divididos por categorias (</a:t>
            </a:r>
            <a:r>
              <a:rPr lang="pt-BR" err="1">
                <a:solidFill>
                  <a:schemeClr val="bg1"/>
                </a:solidFill>
                <a:latin typeface="Arial"/>
                <a:ea typeface="Calibri"/>
                <a:cs typeface="Calibri"/>
              </a:rPr>
              <a:t>ex</a:t>
            </a:r>
            <a:r>
              <a:rPr lang="pt-BR">
                <a:solidFill>
                  <a:schemeClr val="bg1"/>
                </a:solidFill>
                <a:latin typeface="Arial"/>
                <a:ea typeface="Calibri"/>
                <a:cs typeface="Calibri"/>
              </a:rPr>
              <a:t>: hambúrgueres de carne, frango, batatas, bebidas), de modo que não precise ficar rolando por todo o site procurando o que deseja.</a:t>
            </a:r>
            <a:endParaRPr lang="pt-BR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endParaRPr lang="pt-BR">
              <a:latin typeface="Arial"/>
              <a:ea typeface="Calibri"/>
              <a:cs typeface="Calibri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96C08B6-2ADA-036B-DA61-67CE1F3D4FB3}"/>
              </a:ext>
            </a:extLst>
          </p:cNvPr>
          <p:cNvSpPr txBox="1"/>
          <p:nvPr/>
        </p:nvSpPr>
        <p:spPr>
          <a:xfrm>
            <a:off x="11185769" y="641838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800" b="0" i="0" u="none" strike="noStrike" baseline="0">
                <a:solidFill>
                  <a:srgbClr val="FFFFFF"/>
                </a:solidFill>
                <a:latin typeface="Calibri"/>
              </a:rPr>
              <a:t>Gabriel</a:t>
            </a:r>
            <a:r>
              <a:rPr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pt-BR"/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7286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A923A9A-D92E-FB73-187D-43BE1B1A6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2000" contrast="-1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048" y="4901"/>
            <a:ext cx="12204999" cy="6858841"/>
          </a:xfrm>
          <a:prstGeom prst="rect">
            <a:avLst/>
          </a:prstGeom>
        </p:spPr>
      </p:pic>
      <p:sp>
        <p:nvSpPr>
          <p:cNvPr id="3" name="Caixa de texto 28">
            <a:extLst>
              <a:ext uri="{FF2B5EF4-FFF2-40B4-BE49-F238E27FC236}">
                <a16:creationId xmlns:a16="http://schemas.microsoft.com/office/drawing/2014/main" id="{40B4A45B-8185-8C7F-84A7-FC79188EB6E9}"/>
              </a:ext>
            </a:extLst>
          </p:cNvPr>
          <p:cNvSpPr txBox="1"/>
          <p:nvPr/>
        </p:nvSpPr>
        <p:spPr>
          <a:xfrm>
            <a:off x="228536" y="1373673"/>
            <a:ext cx="6879751" cy="49590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pt-BR" sz="3200">
                <a:solidFill>
                  <a:schemeClr val="accent1">
                    <a:lumMod val="60000"/>
                    <a:lumOff val="40000"/>
                  </a:schemeClr>
                </a:solidFill>
                <a:latin typeface="Arial Black"/>
                <a:ea typeface="Lato Black"/>
                <a:cs typeface="Lato Black"/>
              </a:rPr>
              <a:t>BELLA FARINA</a:t>
            </a:r>
            <a:endParaRPr lang="pt-BR" sz="320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A2F6FE-A429-A1E3-162E-031465F25F2F}"/>
              </a:ext>
            </a:extLst>
          </p:cNvPr>
          <p:cNvSpPr txBox="1"/>
          <p:nvPr/>
        </p:nvSpPr>
        <p:spPr>
          <a:xfrm>
            <a:off x="112579" y="1862201"/>
            <a:ext cx="4211936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>
                <a:solidFill>
                  <a:schemeClr val="bg1"/>
                </a:solidFill>
                <a:latin typeface="Arial"/>
                <a:ea typeface="+mn-lt"/>
                <a:cs typeface="Arial"/>
              </a:rPr>
              <a:t>Não gostamos muito do site da pizzaria </a:t>
            </a:r>
            <a:r>
              <a:rPr lang="pt-BR" err="1">
                <a:solidFill>
                  <a:schemeClr val="bg1"/>
                </a:solidFill>
                <a:latin typeface="Arial"/>
                <a:ea typeface="+mn-lt"/>
                <a:cs typeface="Arial"/>
              </a:rPr>
              <a:t>Bella</a:t>
            </a:r>
            <a:r>
              <a:rPr lang="pt-BR">
                <a:solidFill>
                  <a:schemeClr val="bg1"/>
                </a:solidFill>
                <a:latin typeface="Arial"/>
                <a:ea typeface="+mn-lt"/>
                <a:cs typeface="Arial"/>
              </a:rPr>
              <a:t> Farina, devido à desorganização das informações, à escolha de cores muito apagadas e à forma como os sabores aparecem muito juntos, o que dificulta a leitura. A falta de uma estrutura visual torna a navegação confusa, fazendo com que o usuário tenha dificuldade em localizar rapidamente os produtos desejados.</a:t>
            </a:r>
            <a:endParaRPr lang="pt-BR">
              <a:solidFill>
                <a:schemeClr val="bg1"/>
              </a:solidFill>
            </a:endParaRPr>
          </a:p>
          <a:p>
            <a:pPr algn="ctr"/>
            <a:r>
              <a:rPr lang="pt-BR">
                <a:solidFill>
                  <a:schemeClr val="bg1"/>
                </a:solidFill>
                <a:latin typeface="Arial"/>
                <a:ea typeface="+mn-lt"/>
                <a:cs typeface="Arial"/>
              </a:rPr>
              <a:t>Esses fatores acabam deixando o site menos atrativo e prejudicam a experiência do cliente, já que um layout mais organizado, com melhor contraste de cores e separação adequada dos itens do cardápio, tornaria o acesso mais simples, intuitivo e agradável.</a:t>
            </a:r>
            <a:endParaRPr lang="pt-BR"/>
          </a:p>
          <a:p>
            <a:pPr algn="ctr"/>
            <a:endParaRPr lang="pt-BR">
              <a:solidFill>
                <a:schemeClr val="bg1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4D822E8-1AAB-402A-D020-5CF6B2B2CFA5}"/>
              </a:ext>
            </a:extLst>
          </p:cNvPr>
          <p:cNvSpPr txBox="1"/>
          <p:nvPr/>
        </p:nvSpPr>
        <p:spPr>
          <a:xfrm>
            <a:off x="11410462" y="6389077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solidFill>
                  <a:srgbClr val="FFFFFF"/>
                </a:solidFill>
                <a:ea typeface="Calibri"/>
                <a:cs typeface="Calibri"/>
              </a:rPr>
              <a:t>Clara</a:t>
            </a:r>
          </a:p>
        </p:txBody>
      </p:sp>
    </p:spTree>
    <p:extLst>
      <p:ext uri="{BB962C8B-B14F-4D97-AF65-F5344CB8AC3E}">
        <p14:creationId xmlns:p14="http://schemas.microsoft.com/office/powerpoint/2010/main" val="378264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omida em cima de mesa de madeira&#10;&#10;O conteúdo gerado por IA pode estar incorreto.">
            <a:extLst>
              <a:ext uri="{FF2B5EF4-FFF2-40B4-BE49-F238E27FC236}">
                <a16:creationId xmlns:a16="http://schemas.microsoft.com/office/drawing/2014/main" id="{8C78CFE9-3D9F-1C7E-03B3-D4981F288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3" y="856"/>
            <a:ext cx="12189434" cy="685628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65014A9-7945-B266-6B22-50021E1894BB}"/>
              </a:ext>
            </a:extLst>
          </p:cNvPr>
          <p:cNvSpPr txBox="1"/>
          <p:nvPr/>
        </p:nvSpPr>
        <p:spPr>
          <a:xfrm>
            <a:off x="175846" y="1504462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>
                <a:solidFill>
                  <a:srgbClr val="FE7F50"/>
                </a:solidFill>
                <a:latin typeface="Arial Black"/>
              </a:rPr>
              <a:t>BOM GOSTO</a:t>
            </a:r>
            <a:endParaRPr lang="pt-BR" sz="3200">
              <a:latin typeface="Arial Black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55E968A-8D5A-587E-68BB-26B801202DEB}"/>
              </a:ext>
            </a:extLst>
          </p:cNvPr>
          <p:cNvSpPr txBox="1"/>
          <p:nvPr/>
        </p:nvSpPr>
        <p:spPr>
          <a:xfrm>
            <a:off x="175846" y="2012462"/>
            <a:ext cx="4532923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solidFill>
                  <a:schemeClr val="bg1"/>
                </a:solidFill>
                <a:latin typeface="Arial"/>
                <a:ea typeface="+mn-lt"/>
                <a:cs typeface="Arial"/>
              </a:rPr>
              <a:t>Gostamos mais ou menos do site da pizzaria Bom Gosto, as informações sobre o local estão muito pequenas e os sabores do cardápio muito grande, além de ter uma estética muito básica, sem destacar o sabor surreal de seus produtos.</a:t>
            </a:r>
            <a:endParaRPr lang="pt-BR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pt-BR">
                <a:solidFill>
                  <a:schemeClr val="bg1"/>
                </a:solidFill>
                <a:latin typeface="Arial"/>
                <a:ea typeface="Calibri"/>
                <a:cs typeface="Arial"/>
              </a:rPr>
              <a:t>Em nosso site, vamos manter um layout atrativo com cores combinando com o estabelecimento, estrutura das informações bem organizadas, as categorias de sabores, os horários de funcionamento da loja, mandaremos uma mensagem </a:t>
            </a:r>
            <a:r>
              <a:rPr lang="pt-BR">
                <a:solidFill>
                  <a:schemeClr val="bg1"/>
                </a:solidFill>
                <a:ea typeface="+mn-lt"/>
                <a:cs typeface="+mn-lt"/>
              </a:rPr>
              <a:t>automática para o Whatsapp dos clientes confirmando o pedido e as informações, além de colocar foto em cada um dos produtos citados e o número de contato da loja.</a:t>
            </a:r>
            <a:endParaRPr lang="pt-BR">
              <a:solidFill>
                <a:schemeClr val="bg1"/>
              </a:solidFill>
              <a:latin typeface="Calibri" panose="020F0502020204030204"/>
              <a:ea typeface="Calibri"/>
              <a:cs typeface="Calibri" panose="020F0502020204030204"/>
            </a:endParaRPr>
          </a:p>
          <a:p>
            <a:endParaRPr lang="pt-BR">
              <a:ea typeface="Calibri"/>
              <a:cs typeface="Calibri"/>
            </a:endParaRPr>
          </a:p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EFD4B3D-93EC-3C97-819B-251846D26F3D}"/>
              </a:ext>
            </a:extLst>
          </p:cNvPr>
          <p:cNvSpPr txBox="1"/>
          <p:nvPr/>
        </p:nvSpPr>
        <p:spPr>
          <a:xfrm>
            <a:off x="11127154" y="6408616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Heloísa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3760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1">
      <a:dk1>
        <a:srgbClr val="000000"/>
      </a:dk1>
      <a:lt1>
        <a:srgbClr val="FFFFFF"/>
      </a:lt1>
      <a:dk2>
        <a:srgbClr val="2F2F2F"/>
      </a:dk2>
      <a:lt2>
        <a:srgbClr val="E6E6E6"/>
      </a:lt2>
      <a:accent1>
        <a:srgbClr val="D83B01"/>
      </a:accent1>
      <a:accent2>
        <a:srgbClr val="2F2F2F"/>
      </a:accent2>
      <a:accent3>
        <a:srgbClr val="D2D2D2"/>
      </a:accent3>
      <a:accent4>
        <a:srgbClr val="E6E6E6"/>
      </a:accent4>
      <a:accent5>
        <a:srgbClr val="000000"/>
      </a:accent5>
      <a:accent6>
        <a:srgbClr val="D83B01"/>
      </a:accent6>
      <a:hlink>
        <a:srgbClr val="D83B01"/>
      </a:hlink>
      <a:folHlink>
        <a:srgbClr val="D83B0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884_Coffee Shop Business Pitch Deck_RVA_v3.potx" id="{C1322C9F-FF28-439C-83B3-ADD70030630F}" vid="{FE0D3DD2-3091-4F75-9007-330AA7DC691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07DDD51-F6EA-4B04-9903-27950152CB0C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A885CE1-32EE-4F13-B5FF-DE26EE7D4B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A94008-A397-4689-82C2-D812018BB783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TF16401884</Template>
  <Application>Microsoft Office PowerPoint</Application>
  <PresentationFormat>Widescreen</PresentationFormat>
  <Slides>7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Tema do Office</vt:lpstr>
      <vt:lpstr>Slide 1</vt:lpstr>
      <vt:lpstr>Slide 2</vt:lpstr>
      <vt:lpstr>Slide 6</vt:lpstr>
      <vt:lpstr>Slide 5</vt:lpstr>
      <vt:lpstr>Slide 7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2026-02-04T13:02:20Z</dcterms:created>
  <dcterms:modified xsi:type="dcterms:W3CDTF">2026-09-25T16:18:03Z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